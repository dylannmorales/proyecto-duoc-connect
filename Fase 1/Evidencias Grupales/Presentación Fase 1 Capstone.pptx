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By//4kNUIRrYlGPBT7vKgl1KV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c3eb3998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9c3eb3998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c64205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f9c64205a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c64205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f9c64205a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9c64205a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f9c64205a2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9c64205a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9c64205a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c64205a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f9c64205a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c64205a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f9c64205a2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9c64205a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f9c64205a2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9c64205a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f9c64205a2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c64205a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f9c64205a2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9c3eb3998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f9c3eb3998_5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9c3eb3998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f9c3eb3998_5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5.png"/><Relationship Id="rId13" Type="http://schemas.openxmlformats.org/officeDocument/2006/relationships/image" Target="../media/image22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370058"/>
            <a:ext cx="5565317" cy="11027116"/>
            <a:chOff x="0" y="0"/>
            <a:chExt cx="1465763" cy="2904261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465763" cy="2904261"/>
            </a:xfrm>
            <a:custGeom>
              <a:rect b="b" l="l" r="r" t="t"/>
              <a:pathLst>
                <a:path extrusionOk="0" h="2904261" w="1465763">
                  <a:moveTo>
                    <a:pt x="0" y="0"/>
                  </a:moveTo>
                  <a:lnTo>
                    <a:pt x="1465763" y="0"/>
                  </a:lnTo>
                  <a:lnTo>
                    <a:pt x="1465763" y="2904261"/>
                  </a:lnTo>
                  <a:lnTo>
                    <a:pt x="0" y="2904261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0"/>
              <a:ext cx="1465763" cy="2904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 rot="9715836">
            <a:off x="-3328055" y="-2250811"/>
            <a:ext cx="8370570" cy="6985621"/>
          </a:xfrm>
          <a:custGeom>
            <a:rect b="b" l="l" r="r" t="t"/>
            <a:pathLst>
              <a:path extrusionOk="0" h="6985621" w="8370570">
                <a:moveTo>
                  <a:pt x="0" y="0"/>
                </a:moveTo>
                <a:lnTo>
                  <a:pt x="8370571" y="0"/>
                </a:lnTo>
                <a:lnTo>
                  <a:pt x="8370571" y="6985622"/>
                </a:lnTo>
                <a:lnTo>
                  <a:pt x="0" y="6985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86877" y="1596746"/>
            <a:ext cx="8657123" cy="7661554"/>
          </a:xfrm>
          <a:custGeom>
            <a:rect b="b" l="l" r="r" t="t"/>
            <a:pathLst>
              <a:path extrusionOk="0" h="7661554" w="8657123">
                <a:moveTo>
                  <a:pt x="0" y="0"/>
                </a:moveTo>
                <a:lnTo>
                  <a:pt x="8657123" y="0"/>
                </a:lnTo>
                <a:lnTo>
                  <a:pt x="8657123" y="7661554"/>
                </a:lnTo>
                <a:lnTo>
                  <a:pt x="0" y="7661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212140">
            <a:off x="8138072" y="9102349"/>
            <a:ext cx="3740663" cy="3483492"/>
          </a:xfrm>
          <a:custGeom>
            <a:rect b="b" l="l" r="r" t="t"/>
            <a:pathLst>
              <a:path extrusionOk="0" h="3483492" w="3740663">
                <a:moveTo>
                  <a:pt x="0" y="0"/>
                </a:moveTo>
                <a:lnTo>
                  <a:pt x="3740662" y="0"/>
                </a:lnTo>
                <a:lnTo>
                  <a:pt x="3740662" y="3483492"/>
                </a:lnTo>
                <a:lnTo>
                  <a:pt x="0" y="3483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1418203">
            <a:off x="16094380" y="5974399"/>
            <a:ext cx="4741803" cy="5107867"/>
          </a:xfrm>
          <a:custGeom>
            <a:rect b="b" l="l" r="r" t="t"/>
            <a:pathLst>
              <a:path extrusionOk="0" h="5107867" w="4741803">
                <a:moveTo>
                  <a:pt x="0" y="0"/>
                </a:moveTo>
                <a:lnTo>
                  <a:pt x="4741803" y="0"/>
                </a:lnTo>
                <a:lnTo>
                  <a:pt x="4741803" y="5107867"/>
                </a:lnTo>
                <a:lnTo>
                  <a:pt x="0" y="5107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-695401">
            <a:off x="12975673" y="-4149924"/>
            <a:ext cx="4606509" cy="5406172"/>
          </a:xfrm>
          <a:custGeom>
            <a:rect b="b" l="l" r="r" t="t"/>
            <a:pathLst>
              <a:path extrusionOk="0" h="5406172" w="4606509">
                <a:moveTo>
                  <a:pt x="0" y="0"/>
                </a:moveTo>
                <a:lnTo>
                  <a:pt x="4606509" y="0"/>
                </a:lnTo>
                <a:lnTo>
                  <a:pt x="4606509" y="5406171"/>
                </a:lnTo>
                <a:lnTo>
                  <a:pt x="0" y="5406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9424295" y="1745890"/>
            <a:ext cx="7465596" cy="2131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64"/>
              <a:buFont typeface="Arial"/>
              <a:buNone/>
            </a:pPr>
            <a:r>
              <a:rPr b="1" i="0" lang="en-US" sz="6164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Presentación Fase Número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818805" y="4092328"/>
            <a:ext cx="7321500" cy="4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Integrantes y Roles: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(S</a:t>
            </a: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crum Master / Qa ) Dylann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(Desarrollador / </a:t>
            </a: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) Isa</a:t>
            </a: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ias Gatica</a:t>
            </a:r>
            <a:endParaRPr sz="2499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(D</a:t>
            </a: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esarrollador / Backend</a:t>
            </a: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) Daniel Nieto</a:t>
            </a:r>
            <a:endParaRPr sz="2499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2499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Docente: Diego Garces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2499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1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Sección: </a:t>
            </a:r>
            <a:r>
              <a:rPr lang="en-US" sz="2499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002D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125" y="0"/>
            <a:ext cx="18287943" cy="4309269"/>
            <a:chOff x="0" y="0"/>
            <a:chExt cx="4848984" cy="1134944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4848984" cy="1134944"/>
            </a:xfrm>
            <a:custGeom>
              <a:rect b="b" l="l" r="r" t="t"/>
              <a:pathLst>
                <a:path extrusionOk="0" h="1134944" w="4848984">
                  <a:moveTo>
                    <a:pt x="0" y="0"/>
                  </a:moveTo>
                  <a:lnTo>
                    <a:pt x="4848984" y="0"/>
                  </a:lnTo>
                  <a:lnTo>
                    <a:pt x="4848984" y="1134944"/>
                  </a:lnTo>
                  <a:lnTo>
                    <a:pt x="0" y="1134944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0"/>
              <a:ext cx="4848984" cy="113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1595412" y="4823592"/>
            <a:ext cx="664520" cy="664520"/>
            <a:chOff x="0" y="0"/>
            <a:chExt cx="812800" cy="81280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595412" y="5882982"/>
            <a:ext cx="664520" cy="664520"/>
            <a:chOff x="0" y="0"/>
            <a:chExt cx="812800" cy="8128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595412" y="6986367"/>
            <a:ext cx="664520" cy="664520"/>
            <a:chOff x="0" y="0"/>
            <a:chExt cx="812800" cy="8128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595412" y="8138223"/>
            <a:ext cx="664520" cy="664520"/>
            <a:chOff x="0" y="0"/>
            <a:chExt cx="812800" cy="8128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595412" y="9221843"/>
            <a:ext cx="664520" cy="664520"/>
            <a:chOff x="0" y="0"/>
            <a:chExt cx="812800" cy="8128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2"/>
          <p:cNvSpPr/>
          <p:nvPr/>
        </p:nvSpPr>
        <p:spPr>
          <a:xfrm>
            <a:off x="14266761" y="2061192"/>
            <a:ext cx="3582643" cy="4849601"/>
          </a:xfrm>
          <a:custGeom>
            <a:rect b="b" l="l" r="r" t="t"/>
            <a:pathLst>
              <a:path extrusionOk="0" h="4849601" w="3582643">
                <a:moveTo>
                  <a:pt x="0" y="0"/>
                </a:moveTo>
                <a:lnTo>
                  <a:pt x="3582643" y="0"/>
                </a:lnTo>
                <a:lnTo>
                  <a:pt x="3582643" y="4849601"/>
                </a:lnTo>
                <a:lnTo>
                  <a:pt x="0" y="4849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 rot="509591">
            <a:off x="8039145" y="-1365932"/>
            <a:ext cx="5953320" cy="4156500"/>
          </a:xfrm>
          <a:custGeom>
            <a:rect b="b" l="l" r="r" t="t"/>
            <a:pathLst>
              <a:path extrusionOk="0" h="4156500" w="5953320">
                <a:moveTo>
                  <a:pt x="0" y="0"/>
                </a:moveTo>
                <a:lnTo>
                  <a:pt x="5953320" y="0"/>
                </a:lnTo>
                <a:lnTo>
                  <a:pt x="5953320" y="4156500"/>
                </a:lnTo>
                <a:lnTo>
                  <a:pt x="0" y="4156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 txBox="1"/>
          <p:nvPr/>
        </p:nvSpPr>
        <p:spPr>
          <a:xfrm>
            <a:off x="1909365" y="1945185"/>
            <a:ext cx="6205238" cy="1671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5"/>
              <a:buFont typeface="Arial"/>
              <a:buNone/>
            </a:pPr>
            <a:r>
              <a:rPr b="1" i="0" lang="en-US" sz="10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541759" y="4942361"/>
            <a:ext cx="4265288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Problemática y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761762" y="4990593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541750" y="6001750"/>
            <a:ext cx="4650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lang="en-US" sz="2903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Objetivos y plan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761762" y="6025730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541759" y="8256993"/>
            <a:ext cx="3876104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Tecnologías a Utilizar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761762" y="8305225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541759" y="9340462"/>
            <a:ext cx="5520501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Modelo Relacional Normalizado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761762" y="9364591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2541759" y="6920318"/>
            <a:ext cx="4265288" cy="85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Metodología a Usar y el Porqué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761762" y="7126881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7960227" y="6081397"/>
            <a:ext cx="331819" cy="45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2"/>
          <p:cNvGrpSpPr/>
          <p:nvPr/>
        </p:nvGrpSpPr>
        <p:grpSpPr>
          <a:xfrm>
            <a:off x="7793877" y="6014224"/>
            <a:ext cx="664520" cy="664520"/>
            <a:chOff x="0" y="0"/>
            <a:chExt cx="812800" cy="81280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 txBox="1"/>
          <p:nvPr/>
        </p:nvSpPr>
        <p:spPr>
          <a:xfrm>
            <a:off x="8744147" y="7127134"/>
            <a:ext cx="5241845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Pasos a Seguir Para la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8740224" y="6132842"/>
            <a:ext cx="3482445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7960227" y="6156972"/>
            <a:ext cx="331819" cy="45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7793877" y="7042035"/>
            <a:ext cx="664520" cy="664520"/>
            <a:chOff x="0" y="0"/>
            <a:chExt cx="812800" cy="81280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"/>
          <p:cNvSpPr txBox="1"/>
          <p:nvPr/>
        </p:nvSpPr>
        <p:spPr>
          <a:xfrm>
            <a:off x="7960227" y="7184782"/>
            <a:ext cx="331819" cy="45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"/>
          <p:cNvGrpSpPr/>
          <p:nvPr/>
        </p:nvGrpSpPr>
        <p:grpSpPr>
          <a:xfrm>
            <a:off x="7764848" y="4932836"/>
            <a:ext cx="664520" cy="664520"/>
            <a:chOff x="0" y="0"/>
            <a:chExt cx="812800" cy="812800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2"/>
          <p:cNvSpPr txBox="1"/>
          <p:nvPr/>
        </p:nvSpPr>
        <p:spPr>
          <a:xfrm>
            <a:off x="8711195" y="5051455"/>
            <a:ext cx="5274796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Diagrama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7931198" y="5075584"/>
            <a:ext cx="331819" cy="45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8744147" y="8096454"/>
            <a:ext cx="5241845" cy="43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3"/>
              <a:buFont typeface="Arial"/>
              <a:buNone/>
            </a:pPr>
            <a:r>
              <a:rPr b="0" i="0" lang="en-US" sz="2903" u="none" cap="none" strike="noStrike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Conclusión y 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2"/>
          <p:cNvGrpSpPr/>
          <p:nvPr/>
        </p:nvGrpSpPr>
        <p:grpSpPr>
          <a:xfrm>
            <a:off x="7793877" y="8011355"/>
            <a:ext cx="664520" cy="664520"/>
            <a:chOff x="0" y="0"/>
            <a:chExt cx="812800" cy="812800"/>
          </a:xfrm>
        </p:grpSpPr>
        <p:sp>
          <p:nvSpPr>
            <p:cNvPr id="147" name="Google Shape;14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2"/>
          <p:cNvSpPr txBox="1"/>
          <p:nvPr/>
        </p:nvSpPr>
        <p:spPr>
          <a:xfrm>
            <a:off x="7960227" y="8154102"/>
            <a:ext cx="331819" cy="45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2"/>
              <a:buFont typeface="Arial"/>
              <a:buNone/>
            </a:pPr>
            <a:r>
              <a:rPr b="0" i="0" lang="en-US" sz="30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3"/>
          <p:cNvGrpSpPr/>
          <p:nvPr/>
        </p:nvGrpSpPr>
        <p:grpSpPr>
          <a:xfrm>
            <a:off x="0" y="3"/>
            <a:ext cx="4700019" cy="1725649"/>
            <a:chOff x="0" y="0"/>
            <a:chExt cx="1237857" cy="2240230"/>
          </a:xfrm>
        </p:grpSpPr>
        <p:sp>
          <p:nvSpPr>
            <p:cNvPr id="155" name="Google Shape;155;p3"/>
            <p:cNvSpPr/>
            <p:nvPr/>
          </p:nvSpPr>
          <p:spPr>
            <a:xfrm>
              <a:off x="0" y="0"/>
              <a:ext cx="1237857" cy="2240230"/>
            </a:xfrm>
            <a:custGeom>
              <a:rect b="b" l="l" r="r" t="t"/>
              <a:pathLst>
                <a:path extrusionOk="0" h="2240230" w="1237857">
                  <a:moveTo>
                    <a:pt x="0" y="0"/>
                  </a:moveTo>
                  <a:lnTo>
                    <a:pt x="1237857" y="0"/>
                  </a:lnTo>
                  <a:lnTo>
                    <a:pt x="1237857" y="2240230"/>
                  </a:lnTo>
                  <a:lnTo>
                    <a:pt x="0" y="2240230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6" name="Google Shape;156;p3"/>
            <p:cNvSpPr txBox="1"/>
            <p:nvPr/>
          </p:nvSpPr>
          <p:spPr>
            <a:xfrm>
              <a:off x="0" y="0"/>
              <a:ext cx="1237857" cy="2240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3"/>
          <p:cNvSpPr txBox="1"/>
          <p:nvPr/>
        </p:nvSpPr>
        <p:spPr>
          <a:xfrm>
            <a:off x="945925" y="3400500"/>
            <a:ext cx="165537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En sedes como Duoc UC Plaza Vespucio, y también en otras sedes, los estudiantes necesitan coordinarse constantemente para estudiar, realizar trabajos grupales, compartir apuntes y resolver dudas académicas.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Actualmente, esta coordinación suele realizarse por medios informales como WhatsApp, Instagram o grupos de curso. Esto genera problemas como: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- Los apuntes y avisos importantes se pierden entre muchos mensajes.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- Es difícil encontrar compañeros de la misma carrera, asignatura o sección.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- Los estudiantes nuevos tienen menos oportunidades de integrarse a grupos de estudio.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- Las dudas académicas no siempre reciben respuesta de forma ordenada.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- No existe una plataforma única que conecte a estudiantes de distintas sedes de Duoc UC.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268279" y="1811399"/>
            <a:ext cx="1021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 rot="-9701020">
            <a:off x="13856875" y="-1823425"/>
            <a:ext cx="6804849" cy="4751022"/>
          </a:xfrm>
          <a:custGeom>
            <a:rect b="b" l="l" r="r" t="t"/>
            <a:pathLst>
              <a:path extrusionOk="0" h="4751022" w="6804849">
                <a:moveTo>
                  <a:pt x="0" y="0"/>
                </a:moveTo>
                <a:lnTo>
                  <a:pt x="6804850" y="0"/>
                </a:lnTo>
                <a:lnTo>
                  <a:pt x="6804850" y="4751022"/>
                </a:lnTo>
                <a:lnTo>
                  <a:pt x="0" y="475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f9c3eb3998_2_3"/>
          <p:cNvGrpSpPr/>
          <p:nvPr/>
        </p:nvGrpSpPr>
        <p:grpSpPr>
          <a:xfrm>
            <a:off x="0" y="3"/>
            <a:ext cx="4700019" cy="1725649"/>
            <a:chOff x="0" y="0"/>
            <a:chExt cx="1237857" cy="2240230"/>
          </a:xfrm>
        </p:grpSpPr>
        <p:sp>
          <p:nvSpPr>
            <p:cNvPr id="165" name="Google Shape;165;g3f9c3eb3998_2_3"/>
            <p:cNvSpPr/>
            <p:nvPr/>
          </p:nvSpPr>
          <p:spPr>
            <a:xfrm>
              <a:off x="0" y="0"/>
              <a:ext cx="1237857" cy="2240230"/>
            </a:xfrm>
            <a:custGeom>
              <a:rect b="b" l="l" r="r" t="t"/>
              <a:pathLst>
                <a:path extrusionOk="0" h="2240230" w="1237857">
                  <a:moveTo>
                    <a:pt x="0" y="0"/>
                  </a:moveTo>
                  <a:lnTo>
                    <a:pt x="1237857" y="0"/>
                  </a:lnTo>
                  <a:lnTo>
                    <a:pt x="1237857" y="2240230"/>
                  </a:lnTo>
                  <a:lnTo>
                    <a:pt x="0" y="2240230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66" name="Google Shape;166;g3f9c3eb3998_2_3"/>
            <p:cNvSpPr txBox="1"/>
            <p:nvPr/>
          </p:nvSpPr>
          <p:spPr>
            <a:xfrm>
              <a:off x="0" y="0"/>
              <a:ext cx="1237800" cy="22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g3f9c3eb3998_2_3"/>
          <p:cNvSpPr txBox="1"/>
          <p:nvPr/>
        </p:nvSpPr>
        <p:spPr>
          <a:xfrm>
            <a:off x="3268279" y="1811399"/>
            <a:ext cx="1021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6B94EF"/>
                </a:solidFill>
              </a:rPr>
              <a:t>Propuesta de </a:t>
            </a:r>
            <a:r>
              <a:rPr b="1" lang="en-US" sz="6000">
                <a:solidFill>
                  <a:srgbClr val="6B94EF"/>
                </a:solidFill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9c3eb3998_2_3"/>
          <p:cNvSpPr/>
          <p:nvPr/>
        </p:nvSpPr>
        <p:spPr>
          <a:xfrm rot="-9699334">
            <a:off x="13853433" y="-1829558"/>
            <a:ext cx="6810716" cy="4755118"/>
          </a:xfrm>
          <a:custGeom>
            <a:rect b="b" l="l" r="r" t="t"/>
            <a:pathLst>
              <a:path extrusionOk="0" h="4751022" w="6804849">
                <a:moveTo>
                  <a:pt x="0" y="0"/>
                </a:moveTo>
                <a:lnTo>
                  <a:pt x="6804850" y="0"/>
                </a:lnTo>
                <a:lnTo>
                  <a:pt x="6804850" y="4751022"/>
                </a:lnTo>
                <a:lnTo>
                  <a:pt x="0" y="475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g3f9c3eb3998_2_3"/>
          <p:cNvSpPr txBox="1"/>
          <p:nvPr/>
        </p:nvSpPr>
        <p:spPr>
          <a:xfrm>
            <a:off x="827700" y="3429000"/>
            <a:ext cx="167193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Duoc Connect busca resolver esta problemática mediante una plataforma académica centralizada para estudiantes de Duoc UC, incluyendo sedes como Plaza Vespucio.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La aplicación permitirá crear grupos de estudio, compartir apuntes, participar en foros, conversar en tiempo real y encontrar compañeros según carrera, asignaturas, habilidades y disponibilidad.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De esta forma, Duoc Connect facilita una comunidad estudiantil más conectada, colaborativa y organizada, tanto dentro de cada sede como entre distintas sedes.</a:t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f9c64205a2_0_3"/>
          <p:cNvGrpSpPr/>
          <p:nvPr/>
        </p:nvGrpSpPr>
        <p:grpSpPr>
          <a:xfrm>
            <a:off x="0" y="3"/>
            <a:ext cx="4700019" cy="1725649"/>
            <a:chOff x="0" y="0"/>
            <a:chExt cx="1237857" cy="2240230"/>
          </a:xfrm>
        </p:grpSpPr>
        <p:sp>
          <p:nvSpPr>
            <p:cNvPr id="175" name="Google Shape;175;g3f9c64205a2_0_3"/>
            <p:cNvSpPr/>
            <p:nvPr/>
          </p:nvSpPr>
          <p:spPr>
            <a:xfrm>
              <a:off x="0" y="0"/>
              <a:ext cx="1237857" cy="2240230"/>
            </a:xfrm>
            <a:custGeom>
              <a:rect b="b" l="l" r="r" t="t"/>
              <a:pathLst>
                <a:path extrusionOk="0" h="2240230" w="1237857">
                  <a:moveTo>
                    <a:pt x="0" y="0"/>
                  </a:moveTo>
                  <a:lnTo>
                    <a:pt x="1237857" y="0"/>
                  </a:lnTo>
                  <a:lnTo>
                    <a:pt x="1237857" y="2240230"/>
                  </a:lnTo>
                  <a:lnTo>
                    <a:pt x="0" y="2240230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6" name="Google Shape;176;g3f9c64205a2_0_3"/>
            <p:cNvSpPr txBox="1"/>
            <p:nvPr/>
          </p:nvSpPr>
          <p:spPr>
            <a:xfrm>
              <a:off x="0" y="0"/>
              <a:ext cx="1237800" cy="22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f9c64205a2_0_3"/>
          <p:cNvSpPr txBox="1"/>
          <p:nvPr/>
        </p:nvSpPr>
        <p:spPr>
          <a:xfrm>
            <a:off x="3268279" y="1811399"/>
            <a:ext cx="1021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6B94EF"/>
                </a:solidFill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9c64205a2_0_3"/>
          <p:cNvSpPr/>
          <p:nvPr/>
        </p:nvSpPr>
        <p:spPr>
          <a:xfrm rot="-9699334">
            <a:off x="13853433" y="-1829558"/>
            <a:ext cx="6810716" cy="4755118"/>
          </a:xfrm>
          <a:custGeom>
            <a:rect b="b" l="l" r="r" t="t"/>
            <a:pathLst>
              <a:path extrusionOk="0" h="4751022" w="6804849">
                <a:moveTo>
                  <a:pt x="0" y="0"/>
                </a:moveTo>
                <a:lnTo>
                  <a:pt x="6804850" y="0"/>
                </a:lnTo>
                <a:lnTo>
                  <a:pt x="6804850" y="4751022"/>
                </a:lnTo>
                <a:lnTo>
                  <a:pt x="0" y="475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g3f9c64205a2_0_3"/>
          <p:cNvSpPr txBox="1"/>
          <p:nvPr/>
        </p:nvSpPr>
        <p:spPr>
          <a:xfrm>
            <a:off x="827700" y="3429000"/>
            <a:ext cx="60354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0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Objetivo General </a:t>
            </a:r>
            <a:endParaRPr b="1" sz="300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Desarrollar una plataforma web de colaboración académica para estudiantes de Duoc UC, que permita centralizar la comunicación, el intercambio de recursos y la formación de grupos de estudio en un entorno organizado y seguro. </a:t>
            </a:r>
            <a:endParaRPr b="0" i="0" sz="2800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g3f9c64205a2_0_3"/>
          <p:cNvSpPr txBox="1"/>
          <p:nvPr/>
        </p:nvSpPr>
        <p:spPr>
          <a:xfrm>
            <a:off x="9673950" y="3637275"/>
            <a:ext cx="6558600" cy="5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Objetivos Específicos </a:t>
            </a:r>
            <a:endParaRPr b="1" sz="32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Analizar las necesidades de colaboración académica de los estudiantes.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Diseñar una arquitectura web desacoplada para la plataforma.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Implementar módulos de usuarios, grupos de estudio, apuntes, foro y comunicación.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Incorporar autenticación, roles y mecanismos de seguridad.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base de datos relacional para gestionar la información.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4651BF"/>
                </a:solidFill>
                <a:latin typeface="Calibri"/>
                <a:ea typeface="Calibri"/>
                <a:cs typeface="Calibri"/>
                <a:sym typeface="Calibri"/>
              </a:rPr>
              <a:t>Realizar pruebas para validar el funcionamiento de las principales funcionalidades.</a:t>
            </a:r>
            <a:endParaRPr sz="2700">
              <a:solidFill>
                <a:srgbClr val="465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g3f9c64205a2_0_12"/>
          <p:cNvGrpSpPr/>
          <p:nvPr/>
        </p:nvGrpSpPr>
        <p:grpSpPr>
          <a:xfrm>
            <a:off x="0" y="3"/>
            <a:ext cx="4700019" cy="1725649"/>
            <a:chOff x="0" y="0"/>
            <a:chExt cx="1237857" cy="2240230"/>
          </a:xfrm>
        </p:grpSpPr>
        <p:sp>
          <p:nvSpPr>
            <p:cNvPr id="186" name="Google Shape;186;g3f9c64205a2_0_12"/>
            <p:cNvSpPr/>
            <p:nvPr/>
          </p:nvSpPr>
          <p:spPr>
            <a:xfrm>
              <a:off x="0" y="0"/>
              <a:ext cx="1237857" cy="2240230"/>
            </a:xfrm>
            <a:custGeom>
              <a:rect b="b" l="l" r="r" t="t"/>
              <a:pathLst>
                <a:path extrusionOk="0" h="2240230" w="1237857">
                  <a:moveTo>
                    <a:pt x="0" y="0"/>
                  </a:moveTo>
                  <a:lnTo>
                    <a:pt x="1237857" y="0"/>
                  </a:lnTo>
                  <a:lnTo>
                    <a:pt x="1237857" y="2240230"/>
                  </a:lnTo>
                  <a:lnTo>
                    <a:pt x="0" y="2240230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87" name="Google Shape;187;g3f9c64205a2_0_12"/>
            <p:cNvSpPr txBox="1"/>
            <p:nvPr/>
          </p:nvSpPr>
          <p:spPr>
            <a:xfrm>
              <a:off x="0" y="0"/>
              <a:ext cx="1237800" cy="22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g3f9c64205a2_0_12"/>
          <p:cNvSpPr txBox="1"/>
          <p:nvPr/>
        </p:nvSpPr>
        <p:spPr>
          <a:xfrm>
            <a:off x="4080604" y="271349"/>
            <a:ext cx="1021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6B94EF"/>
                </a:solidFill>
              </a:rPr>
              <a:t>Plan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9c64205a2_0_12"/>
          <p:cNvSpPr/>
          <p:nvPr/>
        </p:nvSpPr>
        <p:spPr>
          <a:xfrm rot="-9699334">
            <a:off x="13853433" y="-1829558"/>
            <a:ext cx="6810716" cy="4755118"/>
          </a:xfrm>
          <a:custGeom>
            <a:rect b="b" l="l" r="r" t="t"/>
            <a:pathLst>
              <a:path extrusionOk="0" h="4751022" w="6804849">
                <a:moveTo>
                  <a:pt x="0" y="0"/>
                </a:moveTo>
                <a:lnTo>
                  <a:pt x="6804850" y="0"/>
                </a:lnTo>
                <a:lnTo>
                  <a:pt x="6804850" y="4751022"/>
                </a:lnTo>
                <a:lnTo>
                  <a:pt x="0" y="475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f9c64205a2_0_12"/>
          <p:cNvSpPr txBox="1"/>
          <p:nvPr/>
        </p:nvSpPr>
        <p:spPr>
          <a:xfrm>
            <a:off x="827700" y="3429000"/>
            <a:ext cx="167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b="0" i="0" sz="2800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1" name="Google Shape;191;g3f9c64205a2_0_12" title="Pastel Post It Scrapbook Marketing Timeline Mind Map Brainst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25650"/>
            <a:ext cx="18288000" cy="84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5"/>
          <p:cNvGrpSpPr/>
          <p:nvPr/>
        </p:nvGrpSpPr>
        <p:grpSpPr>
          <a:xfrm>
            <a:off x="13464350" y="0"/>
            <a:ext cx="4823721" cy="10624110"/>
            <a:chOff x="0" y="0"/>
            <a:chExt cx="1467470" cy="2798101"/>
          </a:xfrm>
        </p:grpSpPr>
        <p:sp>
          <p:nvSpPr>
            <p:cNvPr id="197" name="Google Shape;197;p5"/>
            <p:cNvSpPr/>
            <p:nvPr/>
          </p:nvSpPr>
          <p:spPr>
            <a:xfrm>
              <a:off x="0" y="0"/>
              <a:ext cx="1467470" cy="2798101"/>
            </a:xfrm>
            <a:custGeom>
              <a:rect b="b" l="l" r="r" t="t"/>
              <a:pathLst>
                <a:path extrusionOk="0" h="2798101" w="1467470">
                  <a:moveTo>
                    <a:pt x="0" y="0"/>
                  </a:moveTo>
                  <a:lnTo>
                    <a:pt x="1467470" y="0"/>
                  </a:lnTo>
                  <a:lnTo>
                    <a:pt x="1467470" y="2798101"/>
                  </a:lnTo>
                  <a:lnTo>
                    <a:pt x="0" y="2798101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8" name="Google Shape;198;p5"/>
            <p:cNvSpPr txBox="1"/>
            <p:nvPr/>
          </p:nvSpPr>
          <p:spPr>
            <a:xfrm>
              <a:off x="0" y="0"/>
              <a:ext cx="1467470" cy="2798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5"/>
          <p:cNvSpPr txBox="1"/>
          <p:nvPr/>
        </p:nvSpPr>
        <p:spPr>
          <a:xfrm>
            <a:off x="1147151" y="3205666"/>
            <a:ext cx="10053023" cy="21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2"/>
              <a:buFont typeface="Arial"/>
              <a:buNone/>
            </a:pPr>
            <a:r>
              <a:rPr b="1" i="0" lang="en-US" sz="2422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Metodología a Utilizar: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2"/>
              <a:buFont typeface="Arial"/>
              <a:buNone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Scrum es un marco ágil de trabajo que organiza el desarrollo en iteraciones cortas (sprints), permitiendo entregar avances continuos y recibir retroalimentación constante.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2"/>
              <a:buFont typeface="Arial"/>
              <a:buNone/>
            </a:pPr>
            <a:r>
              <a:t/>
            </a:r>
            <a:endParaRPr b="0" i="0" sz="2422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5"/>
          <p:cNvSpPr/>
          <p:nvPr/>
        </p:nvSpPr>
        <p:spPr>
          <a:xfrm rot="-5400000">
            <a:off x="468378" y="8097612"/>
            <a:ext cx="4064964" cy="4378777"/>
          </a:xfrm>
          <a:custGeom>
            <a:rect b="b" l="l" r="r" t="t"/>
            <a:pathLst>
              <a:path extrusionOk="0" h="4378777" w="4064964">
                <a:moveTo>
                  <a:pt x="0" y="0"/>
                </a:moveTo>
                <a:lnTo>
                  <a:pt x="4064964" y="0"/>
                </a:lnTo>
                <a:lnTo>
                  <a:pt x="4064964" y="4378776"/>
                </a:lnTo>
                <a:lnTo>
                  <a:pt x="0" y="437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5"/>
          <p:cNvSpPr/>
          <p:nvPr/>
        </p:nvSpPr>
        <p:spPr>
          <a:xfrm>
            <a:off x="11304835" y="1839199"/>
            <a:ext cx="8715986" cy="7800808"/>
          </a:xfrm>
          <a:custGeom>
            <a:rect b="b" l="l" r="r" t="t"/>
            <a:pathLst>
              <a:path extrusionOk="0" h="7800808" w="8715986">
                <a:moveTo>
                  <a:pt x="0" y="0"/>
                </a:moveTo>
                <a:lnTo>
                  <a:pt x="8715986" y="0"/>
                </a:lnTo>
                <a:lnTo>
                  <a:pt x="8715986" y="7800808"/>
                </a:lnTo>
                <a:lnTo>
                  <a:pt x="0" y="7800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5"/>
          <p:cNvSpPr txBox="1"/>
          <p:nvPr/>
        </p:nvSpPr>
        <p:spPr>
          <a:xfrm>
            <a:off x="779317" y="634743"/>
            <a:ext cx="10788691" cy="181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Metodología a Usar y el Porqué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147151" y="5711042"/>
            <a:ext cx="10053023" cy="29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2"/>
              <a:buFont typeface="Arial"/>
              <a:buNone/>
            </a:pPr>
            <a:r>
              <a:rPr b="1" i="0" lang="en-US" sz="2422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¿Por qué usar Scrum?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483" lvl="1" marL="522966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422"/>
              <a:buFont typeface="Arial"/>
              <a:buChar char="•"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Flexible: se adapta a cambios según necesidades reales.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483" lvl="1" marL="522966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422"/>
              <a:buFont typeface="Arial"/>
              <a:buChar char="•"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Avances visibles: entrega prototipos en cada sprint.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483" lvl="1" marL="522966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422"/>
              <a:buFont typeface="Arial"/>
              <a:buChar char="•"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Trabajo en equipo: roles claros y colaboración constante.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483" lvl="1" marL="522966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422"/>
              <a:buFont typeface="Arial"/>
              <a:buChar char="•"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Gestión eficiente: prioriza lo más importante.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483" lvl="1" marL="522966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422"/>
              <a:buFont typeface="Arial"/>
              <a:buChar char="•"/>
            </a:pPr>
            <a:r>
              <a:rPr b="0" i="0" lang="en-US" sz="2422" u="none" cap="none" strike="noStrike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Menos riesgos: detecta y corrige problemas temprano.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2"/>
              <a:buFont typeface="Arial"/>
              <a:buNone/>
            </a:pPr>
            <a:r>
              <a:t/>
            </a:r>
            <a:endParaRPr b="0" i="0" sz="2422" u="none" cap="none" strike="noStrike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5596662" y="6006185"/>
            <a:ext cx="10862466" cy="2933057"/>
          </a:xfrm>
          <a:custGeom>
            <a:rect b="b" l="l" r="r" t="t"/>
            <a:pathLst>
              <a:path extrusionOk="0" h="3748316" w="12239398">
                <a:moveTo>
                  <a:pt x="0" y="0"/>
                </a:moveTo>
                <a:lnTo>
                  <a:pt x="12239398" y="0"/>
                </a:lnTo>
                <a:lnTo>
                  <a:pt x="12239398" y="3748316"/>
                </a:lnTo>
                <a:lnTo>
                  <a:pt x="0" y="3748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6"/>
          <p:cNvSpPr/>
          <p:nvPr/>
        </p:nvSpPr>
        <p:spPr>
          <a:xfrm>
            <a:off x="1828687" y="6006185"/>
            <a:ext cx="10862466" cy="2933057"/>
          </a:xfrm>
          <a:custGeom>
            <a:rect b="b" l="l" r="r" t="t"/>
            <a:pathLst>
              <a:path extrusionOk="0" h="3748316" w="12239398">
                <a:moveTo>
                  <a:pt x="0" y="0"/>
                </a:moveTo>
                <a:lnTo>
                  <a:pt x="12239398" y="0"/>
                </a:lnTo>
                <a:lnTo>
                  <a:pt x="12239398" y="3748316"/>
                </a:lnTo>
                <a:lnTo>
                  <a:pt x="0" y="3748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0" name="Google Shape;210;p6" title="jw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7901" y="5838588"/>
            <a:ext cx="2933076" cy="29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1828687" y="2577610"/>
            <a:ext cx="10862466" cy="2933057"/>
          </a:xfrm>
          <a:custGeom>
            <a:rect b="b" l="l" r="r" t="t"/>
            <a:pathLst>
              <a:path extrusionOk="0" h="3748316" w="12239398">
                <a:moveTo>
                  <a:pt x="0" y="0"/>
                </a:moveTo>
                <a:lnTo>
                  <a:pt x="12239398" y="0"/>
                </a:lnTo>
                <a:lnTo>
                  <a:pt x="12239398" y="3748316"/>
                </a:lnTo>
                <a:lnTo>
                  <a:pt x="0" y="3748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2" name="Google Shape;212;p6"/>
          <p:cNvGrpSpPr/>
          <p:nvPr/>
        </p:nvGrpSpPr>
        <p:grpSpPr>
          <a:xfrm>
            <a:off x="0" y="9434750"/>
            <a:ext cx="18287829" cy="852228"/>
            <a:chOff x="0" y="0"/>
            <a:chExt cx="5303587" cy="779429"/>
          </a:xfrm>
        </p:grpSpPr>
        <p:sp>
          <p:nvSpPr>
            <p:cNvPr id="213" name="Google Shape;213;p6"/>
            <p:cNvSpPr/>
            <p:nvPr/>
          </p:nvSpPr>
          <p:spPr>
            <a:xfrm>
              <a:off x="0" y="0"/>
              <a:ext cx="5303587" cy="779429"/>
            </a:xfrm>
            <a:custGeom>
              <a:rect b="b" l="l" r="r" t="t"/>
              <a:pathLst>
                <a:path extrusionOk="0" h="779429" w="5303587">
                  <a:moveTo>
                    <a:pt x="0" y="0"/>
                  </a:moveTo>
                  <a:lnTo>
                    <a:pt x="5303587" y="0"/>
                  </a:lnTo>
                  <a:lnTo>
                    <a:pt x="5303587" y="779429"/>
                  </a:lnTo>
                  <a:lnTo>
                    <a:pt x="0" y="779429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14" name="Google Shape;214;p6"/>
            <p:cNvSpPr txBox="1"/>
            <p:nvPr/>
          </p:nvSpPr>
          <p:spPr>
            <a:xfrm>
              <a:off x="0" y="0"/>
              <a:ext cx="5303587" cy="779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6"/>
          <p:cNvSpPr/>
          <p:nvPr/>
        </p:nvSpPr>
        <p:spPr>
          <a:xfrm rot="8287813">
            <a:off x="-2036038" y="-1098348"/>
            <a:ext cx="7506413" cy="3234581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3" y="0"/>
                </a:lnTo>
                <a:lnTo>
                  <a:pt x="7506413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6"/>
          <p:cNvSpPr/>
          <p:nvPr/>
        </p:nvSpPr>
        <p:spPr>
          <a:xfrm rot="5635735">
            <a:off x="16654844" y="3664471"/>
            <a:ext cx="3378436" cy="3632727"/>
          </a:xfrm>
          <a:custGeom>
            <a:rect b="b" l="l" r="r" t="t"/>
            <a:pathLst>
              <a:path extrusionOk="0" h="3632727" w="3378436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6"/>
          <p:cNvSpPr/>
          <p:nvPr/>
        </p:nvSpPr>
        <p:spPr>
          <a:xfrm>
            <a:off x="2132324" y="2867377"/>
            <a:ext cx="2719248" cy="2353521"/>
          </a:xfrm>
          <a:custGeom>
            <a:rect b="b" l="l" r="r" t="t"/>
            <a:pathLst>
              <a:path extrusionOk="0" h="2960404" w="3326297">
                <a:moveTo>
                  <a:pt x="0" y="0"/>
                </a:moveTo>
                <a:lnTo>
                  <a:pt x="3326297" y="0"/>
                </a:lnTo>
                <a:lnTo>
                  <a:pt x="3326297" y="2960405"/>
                </a:lnTo>
                <a:lnTo>
                  <a:pt x="0" y="296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6"/>
          <p:cNvSpPr txBox="1"/>
          <p:nvPr/>
        </p:nvSpPr>
        <p:spPr>
          <a:xfrm>
            <a:off x="3423113" y="766408"/>
            <a:ext cx="1144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Tecnologías a Utilizar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2721548" y="2922031"/>
            <a:ext cx="1284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6" title="jav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2225" y="2867373"/>
            <a:ext cx="2353524" cy="235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6" title="sprin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74800" y="2767886"/>
            <a:ext cx="2552499" cy="255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 title="websocket-dark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09099" y="6271778"/>
            <a:ext cx="2066650" cy="20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 txBox="1"/>
          <p:nvPr/>
        </p:nvSpPr>
        <p:spPr>
          <a:xfrm>
            <a:off x="6209063" y="8239438"/>
            <a:ext cx="206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6" title="postgresql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710063" y="6141400"/>
            <a:ext cx="2617231" cy="261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6" title="spring-security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868188" y="2735500"/>
            <a:ext cx="1871927" cy="2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/>
          <p:nvPr/>
        </p:nvSpPr>
        <p:spPr>
          <a:xfrm>
            <a:off x="5596662" y="2577610"/>
            <a:ext cx="10862466" cy="2933057"/>
          </a:xfrm>
          <a:custGeom>
            <a:rect b="b" l="l" r="r" t="t"/>
            <a:pathLst>
              <a:path extrusionOk="0" h="3748316" w="12239398">
                <a:moveTo>
                  <a:pt x="0" y="0"/>
                </a:moveTo>
                <a:lnTo>
                  <a:pt x="12239398" y="0"/>
                </a:lnTo>
                <a:lnTo>
                  <a:pt x="12239398" y="3748316"/>
                </a:lnTo>
                <a:lnTo>
                  <a:pt x="0" y="3748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7" name="Google Shape;227;p6" title="docker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337624" y="6413663"/>
            <a:ext cx="2933075" cy="211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 rot="-10138291">
            <a:off x="-2618671" y="7512795"/>
            <a:ext cx="4592714" cy="4276965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7"/>
          <p:cNvSpPr/>
          <p:nvPr/>
        </p:nvSpPr>
        <p:spPr>
          <a:xfrm rot="-9747750">
            <a:off x="14534794" y="-588591"/>
            <a:ext cx="7506413" cy="3234581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4" name="Google Shape;234;p7" title="Imagen Modelo Relacio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4865" y="0"/>
            <a:ext cx="14958274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7"/>
          <p:cNvSpPr txBox="1"/>
          <p:nvPr/>
        </p:nvSpPr>
        <p:spPr>
          <a:xfrm>
            <a:off x="7394450" y="74013"/>
            <a:ext cx="1339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Modelo Relacional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c64205a2_0_54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g3f9c64205a2_0_54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2" name="Google Shape;242;g3f9c64205a2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8774" y="-365097"/>
            <a:ext cx="11710775" cy="106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c64205a2_0_47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g3f9c64205a2_0_47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9" name="Google Shape;249;g3f9c64205a2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0050" y="-280525"/>
            <a:ext cx="11528674" cy="1041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c64205a2_0_40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g3f9c64205a2_0_40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6" name="Google Shape;256;g3f9c64205a2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5345" y="0"/>
            <a:ext cx="9637306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9c64205a2_0_63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g3f9c64205a2_0_63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3" name="Google Shape;263;g3f9c64205a2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934" y="0"/>
            <a:ext cx="9850131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c64205a2_0_84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g3f9c64205a2_0_84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g3f9c64205a2_0_84"/>
          <p:cNvSpPr txBox="1"/>
          <p:nvPr/>
        </p:nvSpPr>
        <p:spPr>
          <a:xfrm>
            <a:off x="1753981" y="196534"/>
            <a:ext cx="1091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6000">
                <a:solidFill>
                  <a:srgbClr val="6B94EF"/>
                </a:solidFill>
              </a:rPr>
              <a:t>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f9c64205a2_0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7931" y="1119924"/>
            <a:ext cx="11352132" cy="916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9c64205a2_0_92"/>
          <p:cNvSpPr/>
          <p:nvPr/>
        </p:nvSpPr>
        <p:spPr>
          <a:xfrm rot="-10134872">
            <a:off x="-2621032" y="7505438"/>
            <a:ext cx="4598136" cy="4282014"/>
          </a:xfrm>
          <a:custGeom>
            <a:rect b="b" l="l" r="r" t="t"/>
            <a:pathLst>
              <a:path extrusionOk="0" h="4276965" w="4592714">
                <a:moveTo>
                  <a:pt x="0" y="0"/>
                </a:moveTo>
                <a:lnTo>
                  <a:pt x="4592714" y="0"/>
                </a:lnTo>
                <a:lnTo>
                  <a:pt x="4592714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g3f9c64205a2_0_92"/>
          <p:cNvSpPr/>
          <p:nvPr/>
        </p:nvSpPr>
        <p:spPr>
          <a:xfrm rot="-9742855">
            <a:off x="14542837" y="-590332"/>
            <a:ext cx="7501767" cy="3232579"/>
          </a:xfrm>
          <a:custGeom>
            <a:rect b="b" l="l" r="r" t="t"/>
            <a:pathLst>
              <a:path extrusionOk="0" h="3234581" w="7506413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g3f9c64205a2_0_92"/>
          <p:cNvSpPr txBox="1"/>
          <p:nvPr/>
        </p:nvSpPr>
        <p:spPr>
          <a:xfrm>
            <a:off x="1753981" y="196534"/>
            <a:ext cx="1091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6000">
                <a:solidFill>
                  <a:srgbClr val="6B94EF"/>
                </a:solidFill>
              </a:rPr>
              <a:t>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f9c64205a2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2239" y="1119923"/>
            <a:ext cx="13663512" cy="916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>
            <a:off x="14824442" y="6593174"/>
            <a:ext cx="2607925" cy="3109300"/>
          </a:xfrm>
          <a:custGeom>
            <a:rect b="b" l="l" r="r" t="t"/>
            <a:pathLst>
              <a:path extrusionOk="0" h="3109300" w="2607925">
                <a:moveTo>
                  <a:pt x="0" y="0"/>
                </a:moveTo>
                <a:lnTo>
                  <a:pt x="2607925" y="0"/>
                </a:lnTo>
                <a:lnTo>
                  <a:pt x="2607925" y="3109300"/>
                </a:lnTo>
                <a:lnTo>
                  <a:pt x="0" y="310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8"/>
          <p:cNvSpPr txBox="1"/>
          <p:nvPr/>
        </p:nvSpPr>
        <p:spPr>
          <a:xfrm>
            <a:off x="1753981" y="196534"/>
            <a:ext cx="10916816" cy="1099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Diagrama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8" title="1.Diagrama de arquitectura, patrón de diseño MV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1167575"/>
            <a:ext cx="4542426" cy="911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8" title="2.Diagrama de arquitectura, patrón de diseño MV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4825" y="1731463"/>
            <a:ext cx="9977217" cy="799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9c64205a2_0_71"/>
          <p:cNvSpPr/>
          <p:nvPr/>
        </p:nvSpPr>
        <p:spPr>
          <a:xfrm>
            <a:off x="14824442" y="6593174"/>
            <a:ext cx="2607925" cy="3109300"/>
          </a:xfrm>
          <a:custGeom>
            <a:rect b="b" l="l" r="r" t="t"/>
            <a:pathLst>
              <a:path extrusionOk="0" h="3109300" w="2607925">
                <a:moveTo>
                  <a:pt x="0" y="0"/>
                </a:moveTo>
                <a:lnTo>
                  <a:pt x="2607925" y="0"/>
                </a:lnTo>
                <a:lnTo>
                  <a:pt x="2607925" y="3109300"/>
                </a:lnTo>
                <a:lnTo>
                  <a:pt x="0" y="310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g3f9c64205a2_0_71"/>
          <p:cNvSpPr txBox="1"/>
          <p:nvPr/>
        </p:nvSpPr>
        <p:spPr>
          <a:xfrm>
            <a:off x="1753981" y="196534"/>
            <a:ext cx="1091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Diagrama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f9c64205a2_0_71" title="3.Diagrama de arquitectura, patrón de diseño MV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86834"/>
            <a:ext cx="14519642" cy="860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9"/>
          <p:cNvGrpSpPr/>
          <p:nvPr/>
        </p:nvGrpSpPr>
        <p:grpSpPr>
          <a:xfrm rot="5400000">
            <a:off x="8614188" y="643740"/>
            <a:ext cx="1059002" cy="18288122"/>
            <a:chOff x="0" y="0"/>
            <a:chExt cx="1598977" cy="4816593"/>
          </a:xfrm>
        </p:grpSpPr>
        <p:sp>
          <p:nvSpPr>
            <p:cNvPr id="300" name="Google Shape;300;p9"/>
            <p:cNvSpPr/>
            <p:nvPr/>
          </p:nvSpPr>
          <p:spPr>
            <a:xfrm>
              <a:off x="0" y="0"/>
              <a:ext cx="1598977" cy="4816592"/>
            </a:xfrm>
            <a:custGeom>
              <a:rect b="b" l="l" r="r" t="t"/>
              <a:pathLst>
                <a:path extrusionOk="0" h="4816592" w="1598977">
                  <a:moveTo>
                    <a:pt x="0" y="0"/>
                  </a:moveTo>
                  <a:lnTo>
                    <a:pt x="1598977" y="0"/>
                  </a:lnTo>
                  <a:lnTo>
                    <a:pt x="1598977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1" name="Google Shape;301;p9"/>
            <p:cNvSpPr txBox="1"/>
            <p:nvPr/>
          </p:nvSpPr>
          <p:spPr>
            <a:xfrm>
              <a:off x="0" y="0"/>
              <a:ext cx="1598977" cy="4816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9"/>
          <p:cNvSpPr txBox="1"/>
          <p:nvPr/>
        </p:nvSpPr>
        <p:spPr>
          <a:xfrm>
            <a:off x="1028700" y="657225"/>
            <a:ext cx="7022386" cy="1451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9"/>
              <a:buFont typeface="Arial"/>
              <a:buNone/>
            </a:pPr>
            <a:r>
              <a:rPr b="1" i="0" lang="en-US" sz="708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9"/>
          <p:cNvPicPr preferRelativeResize="0"/>
          <p:nvPr/>
        </p:nvPicPr>
        <p:blipFill rotWithShape="1">
          <a:blip r:embed="rId3">
            <a:alphaModFix/>
          </a:blip>
          <a:srcRect b="0" l="3090" r="-3090" t="0"/>
          <a:stretch/>
        </p:blipFill>
        <p:spPr>
          <a:xfrm>
            <a:off x="1028700" y="2109175"/>
            <a:ext cx="15599175" cy="666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/>
        </p:nvSpPr>
        <p:spPr>
          <a:xfrm>
            <a:off x="1028700" y="657225"/>
            <a:ext cx="7022386" cy="1451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9"/>
              <a:buFont typeface="Arial"/>
              <a:buNone/>
            </a:pPr>
            <a:r>
              <a:rPr b="1" i="0" lang="en-US" sz="708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10"/>
          <p:cNvGrpSpPr/>
          <p:nvPr/>
        </p:nvGrpSpPr>
        <p:grpSpPr>
          <a:xfrm rot="5400000">
            <a:off x="8614182" y="643749"/>
            <a:ext cx="1059018" cy="18288118"/>
            <a:chOff x="0" y="0"/>
            <a:chExt cx="1599000" cy="4816592"/>
          </a:xfrm>
        </p:grpSpPr>
        <p:sp>
          <p:nvSpPr>
            <p:cNvPr id="310" name="Google Shape;310;p10"/>
            <p:cNvSpPr/>
            <p:nvPr/>
          </p:nvSpPr>
          <p:spPr>
            <a:xfrm>
              <a:off x="0" y="0"/>
              <a:ext cx="1598977" cy="4816592"/>
            </a:xfrm>
            <a:custGeom>
              <a:rect b="b" l="l" r="r" t="t"/>
              <a:pathLst>
                <a:path extrusionOk="0" h="4816592" w="1598977">
                  <a:moveTo>
                    <a:pt x="0" y="0"/>
                  </a:moveTo>
                  <a:lnTo>
                    <a:pt x="1598977" y="0"/>
                  </a:lnTo>
                  <a:lnTo>
                    <a:pt x="1598977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11" name="Google Shape;311;p10"/>
            <p:cNvSpPr txBox="1"/>
            <p:nvPr/>
          </p:nvSpPr>
          <p:spPr>
            <a:xfrm>
              <a:off x="0" y="0"/>
              <a:ext cx="1599000" cy="48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2" name="Google Shape;312;p10"/>
          <p:cNvPicPr preferRelativeResize="0"/>
          <p:nvPr/>
        </p:nvPicPr>
        <p:blipFill rotWithShape="1">
          <a:blip r:embed="rId3">
            <a:alphaModFix/>
          </a:blip>
          <a:srcRect b="-39509" l="0" r="0" t="0"/>
          <a:stretch/>
        </p:blipFill>
        <p:spPr>
          <a:xfrm>
            <a:off x="1028700" y="2109175"/>
            <a:ext cx="14739876" cy="73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/>
        </p:nvSpPr>
        <p:spPr>
          <a:xfrm>
            <a:off x="1028700" y="657225"/>
            <a:ext cx="7022386" cy="1451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9"/>
              <a:buFont typeface="Arial"/>
              <a:buNone/>
            </a:pPr>
            <a:r>
              <a:rPr b="1" i="0" lang="en-US" sz="708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1"/>
          <p:cNvGrpSpPr/>
          <p:nvPr/>
        </p:nvGrpSpPr>
        <p:grpSpPr>
          <a:xfrm rot="5400000">
            <a:off x="8614182" y="643749"/>
            <a:ext cx="1059018" cy="18288118"/>
            <a:chOff x="0" y="0"/>
            <a:chExt cx="1599000" cy="4816592"/>
          </a:xfrm>
        </p:grpSpPr>
        <p:sp>
          <p:nvSpPr>
            <p:cNvPr id="319" name="Google Shape;319;p11"/>
            <p:cNvSpPr/>
            <p:nvPr/>
          </p:nvSpPr>
          <p:spPr>
            <a:xfrm>
              <a:off x="0" y="0"/>
              <a:ext cx="1598977" cy="4816592"/>
            </a:xfrm>
            <a:custGeom>
              <a:rect b="b" l="l" r="r" t="t"/>
              <a:pathLst>
                <a:path extrusionOk="0" h="4816592" w="1598977">
                  <a:moveTo>
                    <a:pt x="0" y="0"/>
                  </a:moveTo>
                  <a:lnTo>
                    <a:pt x="1598977" y="0"/>
                  </a:lnTo>
                  <a:lnTo>
                    <a:pt x="1598977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20" name="Google Shape;320;p11"/>
            <p:cNvSpPr txBox="1"/>
            <p:nvPr/>
          </p:nvSpPr>
          <p:spPr>
            <a:xfrm>
              <a:off x="0" y="0"/>
              <a:ext cx="1599000" cy="48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1" name="Google Shape;32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1990950"/>
            <a:ext cx="14862949" cy="704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9c3eb3998_5_14"/>
          <p:cNvSpPr txBox="1"/>
          <p:nvPr/>
        </p:nvSpPr>
        <p:spPr>
          <a:xfrm>
            <a:off x="1028700" y="657225"/>
            <a:ext cx="70224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9"/>
              <a:buFont typeface="Arial"/>
              <a:buNone/>
            </a:pPr>
            <a:r>
              <a:rPr b="1" i="0" lang="en-US" sz="708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g3f9c3eb3998_5_14"/>
          <p:cNvGrpSpPr/>
          <p:nvPr/>
        </p:nvGrpSpPr>
        <p:grpSpPr>
          <a:xfrm rot="5400000">
            <a:off x="8614182" y="643749"/>
            <a:ext cx="1059018" cy="18288118"/>
            <a:chOff x="0" y="0"/>
            <a:chExt cx="1599000" cy="4816592"/>
          </a:xfrm>
        </p:grpSpPr>
        <p:sp>
          <p:nvSpPr>
            <p:cNvPr id="328" name="Google Shape;328;g3f9c3eb3998_5_14"/>
            <p:cNvSpPr/>
            <p:nvPr/>
          </p:nvSpPr>
          <p:spPr>
            <a:xfrm>
              <a:off x="0" y="0"/>
              <a:ext cx="1598977" cy="4816592"/>
            </a:xfrm>
            <a:custGeom>
              <a:rect b="b" l="l" r="r" t="t"/>
              <a:pathLst>
                <a:path extrusionOk="0" h="4816592" w="1598977">
                  <a:moveTo>
                    <a:pt x="0" y="0"/>
                  </a:moveTo>
                  <a:lnTo>
                    <a:pt x="1598977" y="0"/>
                  </a:lnTo>
                  <a:lnTo>
                    <a:pt x="1598977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29" name="Google Shape;329;g3f9c3eb3998_5_14"/>
            <p:cNvSpPr txBox="1"/>
            <p:nvPr/>
          </p:nvSpPr>
          <p:spPr>
            <a:xfrm>
              <a:off x="0" y="0"/>
              <a:ext cx="1599000" cy="48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g3f9c3eb3998_5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2160850"/>
            <a:ext cx="14413624" cy="66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9c3eb3998_5_23"/>
          <p:cNvSpPr txBox="1"/>
          <p:nvPr/>
        </p:nvSpPr>
        <p:spPr>
          <a:xfrm>
            <a:off x="1028700" y="657225"/>
            <a:ext cx="70224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9"/>
              <a:buFont typeface="Arial"/>
              <a:buNone/>
            </a:pPr>
            <a:r>
              <a:rPr b="1" i="0" lang="en-US" sz="7089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g3f9c3eb3998_5_23"/>
          <p:cNvGrpSpPr/>
          <p:nvPr/>
        </p:nvGrpSpPr>
        <p:grpSpPr>
          <a:xfrm rot="5400000">
            <a:off x="8614182" y="643749"/>
            <a:ext cx="1059018" cy="18288118"/>
            <a:chOff x="0" y="0"/>
            <a:chExt cx="1599000" cy="4816592"/>
          </a:xfrm>
        </p:grpSpPr>
        <p:sp>
          <p:nvSpPr>
            <p:cNvPr id="337" name="Google Shape;337;g3f9c3eb3998_5_23"/>
            <p:cNvSpPr/>
            <p:nvPr/>
          </p:nvSpPr>
          <p:spPr>
            <a:xfrm>
              <a:off x="0" y="0"/>
              <a:ext cx="1598977" cy="4816592"/>
            </a:xfrm>
            <a:custGeom>
              <a:rect b="b" l="l" r="r" t="t"/>
              <a:pathLst>
                <a:path extrusionOk="0" h="4816592" w="1598977">
                  <a:moveTo>
                    <a:pt x="0" y="0"/>
                  </a:moveTo>
                  <a:lnTo>
                    <a:pt x="1598977" y="0"/>
                  </a:lnTo>
                  <a:lnTo>
                    <a:pt x="1598977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7DC5DD"/>
                </a:gs>
                <a:gs pos="100000">
                  <a:srgbClr val="4651B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38" name="Google Shape;338;g3f9c3eb3998_5_23"/>
            <p:cNvSpPr txBox="1"/>
            <p:nvPr/>
          </p:nvSpPr>
          <p:spPr>
            <a:xfrm>
              <a:off x="0" y="0"/>
              <a:ext cx="1599000" cy="48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9" name="Google Shape;339;g3f9c3eb3998_5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2326375"/>
            <a:ext cx="14437275" cy="629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/>
          <p:nvPr/>
        </p:nvSpPr>
        <p:spPr>
          <a:xfrm rot="7703133">
            <a:off x="13309105" y="9341414"/>
            <a:ext cx="7900389" cy="5515908"/>
          </a:xfrm>
          <a:custGeom>
            <a:rect b="b" l="l" r="r" t="t"/>
            <a:pathLst>
              <a:path extrusionOk="0" h="5515908" w="7900389">
                <a:moveTo>
                  <a:pt x="0" y="0"/>
                </a:moveTo>
                <a:lnTo>
                  <a:pt x="7900390" y="0"/>
                </a:lnTo>
                <a:lnTo>
                  <a:pt x="7900390" y="5515908"/>
                </a:lnTo>
                <a:lnTo>
                  <a:pt x="0" y="5515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2"/>
          <p:cNvSpPr/>
          <p:nvPr/>
        </p:nvSpPr>
        <p:spPr>
          <a:xfrm rot="-10360157">
            <a:off x="16315499" y="-1972737"/>
            <a:ext cx="3945003" cy="3673784"/>
          </a:xfrm>
          <a:custGeom>
            <a:rect b="b" l="l" r="r" t="t"/>
            <a:pathLst>
              <a:path extrusionOk="0" h="3673784" w="3945003">
                <a:moveTo>
                  <a:pt x="0" y="0"/>
                </a:moveTo>
                <a:lnTo>
                  <a:pt x="3945002" y="0"/>
                </a:lnTo>
                <a:lnTo>
                  <a:pt x="3945002" y="3673784"/>
                </a:lnTo>
                <a:lnTo>
                  <a:pt x="0" y="3673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2"/>
          <p:cNvSpPr txBox="1"/>
          <p:nvPr/>
        </p:nvSpPr>
        <p:spPr>
          <a:xfrm>
            <a:off x="1028688" y="2612112"/>
            <a:ext cx="162306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1"/>
              <a:buFont typeface="Arial"/>
              <a:buNone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Para segunda fase se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realizará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la construcción del producto el cual consta del desarrollo de un Frontend, Backend y la Base de datos con sus respectivas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tecnologías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mencionadas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anteriormente, integrando módulos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como: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1"/>
              <a:buFont typeface="Arial"/>
              <a:buNone/>
            </a:pPr>
            <a:r>
              <a:t/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Inicio de sesión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Perfiles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Administración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Grupos de estudio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Banco de apuntes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Foros académicos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02654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1BF"/>
              </a:buClr>
              <a:buSzPts val="2741"/>
              <a:buFont typeface="DM Sans"/>
              <a:buChar char="●"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Búsqueda de compañeros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				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				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1028700" y="1096450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Pasos a Seguir Para la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 rot="-10360157">
            <a:off x="-1752989" y="8188915"/>
            <a:ext cx="3945003" cy="3673784"/>
          </a:xfrm>
          <a:custGeom>
            <a:rect b="b" l="l" r="r" t="t"/>
            <a:pathLst>
              <a:path extrusionOk="0" h="3673784" w="3945003">
                <a:moveTo>
                  <a:pt x="0" y="0"/>
                </a:moveTo>
                <a:lnTo>
                  <a:pt x="3945002" y="0"/>
                </a:lnTo>
                <a:lnTo>
                  <a:pt x="3945002" y="3673784"/>
                </a:lnTo>
                <a:lnTo>
                  <a:pt x="0" y="3673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/>
          <p:nvPr/>
        </p:nvSpPr>
        <p:spPr>
          <a:xfrm rot="7290589">
            <a:off x="-4643240" y="2997155"/>
            <a:ext cx="6656340" cy="5555019"/>
          </a:xfrm>
          <a:custGeom>
            <a:rect b="b" l="l" r="r" t="t"/>
            <a:pathLst>
              <a:path extrusionOk="0" h="5555019" w="6656340">
                <a:moveTo>
                  <a:pt x="0" y="0"/>
                </a:moveTo>
                <a:lnTo>
                  <a:pt x="6656341" y="0"/>
                </a:lnTo>
                <a:lnTo>
                  <a:pt x="6656341" y="5555019"/>
                </a:lnTo>
                <a:lnTo>
                  <a:pt x="0" y="5555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13"/>
          <p:cNvSpPr/>
          <p:nvPr/>
        </p:nvSpPr>
        <p:spPr>
          <a:xfrm rot="-6318314">
            <a:off x="12888023" y="7947816"/>
            <a:ext cx="3870633" cy="4542552"/>
          </a:xfrm>
          <a:custGeom>
            <a:rect b="b" l="l" r="r" t="t"/>
            <a:pathLst>
              <a:path extrusionOk="0" h="4542552" w="3870633">
                <a:moveTo>
                  <a:pt x="0" y="0"/>
                </a:moveTo>
                <a:lnTo>
                  <a:pt x="3870633" y="0"/>
                </a:lnTo>
                <a:lnTo>
                  <a:pt x="3870633" y="4542551"/>
                </a:lnTo>
                <a:lnTo>
                  <a:pt x="0" y="4542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3"/>
          <p:cNvSpPr txBox="1"/>
          <p:nvPr/>
        </p:nvSpPr>
        <p:spPr>
          <a:xfrm>
            <a:off x="4293903" y="1313056"/>
            <a:ext cx="970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6B94E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2006849" y="3225550"/>
            <a:ext cx="142743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logró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realizar con éxito la planificación de la primera fase el cual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consiste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en solucionar una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problemática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para la planificación de los estudiantes, creando un sistema web que sea capaz de conectar a todos los estudiantes de Duoc UC, escogiendo tecnologías que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están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en la vanguardia en el entorno empresarial, dando soluciones eficaces a la 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problemática</a:t>
            </a:r>
            <a:r>
              <a:rPr lang="en-US" sz="274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propuesta para la buena relación entre ellos.</a:t>
            </a:r>
            <a:endParaRPr sz="2741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